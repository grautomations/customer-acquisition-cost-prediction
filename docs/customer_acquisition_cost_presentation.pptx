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 id="2147483774" r:id="rId2"/>
    <p:sldMasterId id="2147483792" r:id="rId3"/>
  </p:sldMasterIdLst>
  <p:sldIdLst>
    <p:sldId id="256" r:id="rId4"/>
    <p:sldId id="262" r:id="rId5"/>
    <p:sldId id="259" r:id="rId6"/>
    <p:sldId id="260" r:id="rId7"/>
    <p:sldId id="261" r:id="rId8"/>
    <p:sldId id="258" r:id="rId9"/>
    <p:sldId id="263" r:id="rId10"/>
    <p:sldId id="265" r:id="rId11"/>
    <p:sldId id="273" r:id="rId12"/>
    <p:sldId id="275" r:id="rId13"/>
    <p:sldId id="274" r:id="rId14"/>
    <p:sldId id="276" r:id="rId15"/>
    <p:sldId id="278" r:id="rId16"/>
    <p:sldId id="277" r:id="rId17"/>
    <p:sldId id="267" r:id="rId18"/>
    <p:sldId id="271" r:id="rId19"/>
    <p:sldId id="269"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871896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886356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3989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29030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DF697F-7D60-4766-BFD9-681758DF1DEE}" type="datetimeFigureOut">
              <a:rPr lang="en-IN" smtClean="0"/>
              <a:t>15-10-2023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10262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DF697F-7D60-4766-BFD9-681758DF1DEE}" type="datetimeFigureOut">
              <a:rPr lang="en-IN" smtClean="0"/>
              <a:t>15-10-2023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423711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DF697F-7D60-4766-BFD9-681758DF1DEE}" type="datetimeFigureOut">
              <a:rPr lang="en-IN" smtClean="0"/>
              <a:t>15-10-2023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556054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769818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180500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640218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063994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71707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4167217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4DF697F-7D60-4766-BFD9-681758DF1DEE}" type="datetimeFigureOut">
              <a:rPr lang="en-IN" smtClean="0"/>
              <a:t>15-10-2023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880327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4DF697F-7D60-4766-BFD9-681758DF1DEE}" type="datetimeFigureOut">
              <a:rPr lang="en-IN" smtClean="0"/>
              <a:t>15-10-2023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548853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773709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612728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42789444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403009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6962016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0277918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DF697F-7D60-4766-BFD9-681758DF1DEE}" type="datetimeFigureOut">
              <a:rPr lang="en-IN" smtClean="0"/>
              <a:t>15-10-2023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9545248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DF697F-7D60-4766-BFD9-681758DF1DEE}" type="datetimeFigureOut">
              <a:rPr lang="en-IN" smtClean="0"/>
              <a:t>15-10-2023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6149067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DF697F-7D60-4766-BFD9-681758DF1DEE}" type="datetimeFigureOut">
              <a:rPr lang="en-IN" smtClean="0"/>
              <a:t>15-10-2023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9259609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1335499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9268004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0023489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6225177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404866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8487117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4DF697F-7D60-4766-BFD9-681758DF1DEE}" type="datetimeFigureOut">
              <a:rPr lang="en-IN" smtClean="0"/>
              <a:t>15-10-2023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4487422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4DF697F-7D60-4766-BFD9-681758DF1DEE}" type="datetimeFigureOut">
              <a:rPr lang="en-IN" smtClean="0"/>
              <a:t>15-10-2023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8246913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672479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5356506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8326E-4F3B-4D59-8E5D-1AC05F99BD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BD0EA5C-2C56-49E7-9F9B-BDACBBE91B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93CF51-FF5C-4DE6-8703-91246C36ED6B}"/>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a:extLst>
              <a:ext uri="{FF2B5EF4-FFF2-40B4-BE49-F238E27FC236}">
                <a16:creationId xmlns:a16="http://schemas.microsoft.com/office/drawing/2014/main" id="{2F47FCD7-E364-4458-A66A-AC201C4091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CA8F02-BF79-4342-BEBC-CDC9AE47BACB}"/>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6754043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D2A60-0BAA-40C3-80B7-BF9FC459A3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ABC72C-3FB4-4713-8B2A-86E9755AF69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2CF3F8-07AF-4337-82D2-2DE8BDF5DBAE}"/>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a:extLst>
              <a:ext uri="{FF2B5EF4-FFF2-40B4-BE49-F238E27FC236}">
                <a16:creationId xmlns:a16="http://schemas.microsoft.com/office/drawing/2014/main" id="{2F81A964-E52E-4B7A-80BA-10FA463A41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30B79C-CD1C-402B-BBDA-445E797D9067}"/>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9697016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EA65F-3739-4A5A-88EC-F5CA0A04B0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8A320E-C50B-4290-8006-2D09703F22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EAA295C-B857-418F-91BF-D7378C36F470}"/>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a:extLst>
              <a:ext uri="{FF2B5EF4-FFF2-40B4-BE49-F238E27FC236}">
                <a16:creationId xmlns:a16="http://schemas.microsoft.com/office/drawing/2014/main" id="{71A3A0F1-3E80-4693-B92C-F0CE5CDECC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EEA76-B5AD-4FCE-857D-8FD60AF6ABC5}"/>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4906276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BF7D-1588-4A36-B09C-D8D8D6681B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37E9FA-09BB-4AC6-B4D8-330F2561FCC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8839BB-33D1-438F-925B-2A2ADA4E5F2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B2A6676-CDB7-4586-B9D8-278227E8379D}"/>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a:extLst>
              <a:ext uri="{FF2B5EF4-FFF2-40B4-BE49-F238E27FC236}">
                <a16:creationId xmlns:a16="http://schemas.microsoft.com/office/drawing/2014/main" id="{C8FF44AB-C7CC-4030-9736-35839FD4F8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40461D-2A8D-4A02-9067-151174A8AD14}"/>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14267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035B7-7985-4158-BECE-050D3A2E22A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EF874D-F6AF-447A-8B1E-90B091579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3E2B410-D402-4C53-B542-06F04D63FB5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DA59D6-C003-44E3-96E7-D19343829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B4E153C-5717-4DD8-B267-478856033B6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1C4D4D-A1D2-4551-AB88-2F07EC6B4D22}"/>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8" name="Footer Placeholder 7">
            <a:extLst>
              <a:ext uri="{FF2B5EF4-FFF2-40B4-BE49-F238E27FC236}">
                <a16:creationId xmlns:a16="http://schemas.microsoft.com/office/drawing/2014/main" id="{42589102-44C1-4A35-BD2A-4DF9A11017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1D42CC-78C4-441E-8839-1BBCED155FA5}"/>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3138892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D35F-5159-4DD8-BCE5-C7A5EAA1B7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553B2D5-E21F-48B8-8D5D-2035CC940F79}"/>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4" name="Footer Placeholder 3">
            <a:extLst>
              <a:ext uri="{FF2B5EF4-FFF2-40B4-BE49-F238E27FC236}">
                <a16:creationId xmlns:a16="http://schemas.microsoft.com/office/drawing/2014/main" id="{1AB2C726-958B-4D1F-B16A-4B6F9CB92F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96B313-2586-471A-9951-7CAB9C6C201D}"/>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4790226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0003C2-0E2C-4E02-899D-C8A843F3D52E}"/>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3" name="Footer Placeholder 2">
            <a:extLst>
              <a:ext uri="{FF2B5EF4-FFF2-40B4-BE49-F238E27FC236}">
                <a16:creationId xmlns:a16="http://schemas.microsoft.com/office/drawing/2014/main" id="{62BE2A64-0CC7-4AED-BCD9-8217328482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B80FE5-8763-444D-A387-044E2F07DA4B}"/>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8559424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2A4FA-F322-403D-9141-F0848AF9D3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3172AE-63A7-4722-AF7C-0C72A5692A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75CC10-BF60-4502-90F0-768809480C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9231423-568B-4BE2-8EDB-4F6F3E2542A5}"/>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a:extLst>
              <a:ext uri="{FF2B5EF4-FFF2-40B4-BE49-F238E27FC236}">
                <a16:creationId xmlns:a16="http://schemas.microsoft.com/office/drawing/2014/main" id="{AE15E801-B794-4471-AE63-AE2A3CBF44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EFC0F3-650B-4373-AB91-5012FBD644F2}"/>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31200106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0BDDA-B2EA-4BA0-A21D-9CE6F70F6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4C35FC-6C99-4B71-8EE5-BF5C084D21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1A4E78-35C1-46FA-B531-092C14661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0ADAC03-458A-4138-8D18-1529B8F1C245}"/>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6" name="Footer Placeholder 5">
            <a:extLst>
              <a:ext uri="{FF2B5EF4-FFF2-40B4-BE49-F238E27FC236}">
                <a16:creationId xmlns:a16="http://schemas.microsoft.com/office/drawing/2014/main" id="{988C06E0-1CF5-459B-BF11-71EDD9D5EE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61DEDA-DEDF-4F1D-99E9-C4E42F3D5E72}"/>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7284808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637A0-895D-4CB7-BFD8-A2215FF02D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D5F1C9-D885-4D27-BECD-9D787A74BBF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A9390A-7306-4019-9596-2CC953F4427A}"/>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a:extLst>
              <a:ext uri="{FF2B5EF4-FFF2-40B4-BE49-F238E27FC236}">
                <a16:creationId xmlns:a16="http://schemas.microsoft.com/office/drawing/2014/main" id="{A2A01A24-709F-4F5A-B820-C8DE91C6C6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46DAC2-B01E-490A-8457-A20AA70E9F2C}"/>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13757082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F47EB2-1EB1-489F-9D50-1D0B1A1C5E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45978E-FC9A-436D-9F60-C256A934CAF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BD199A-974D-4A73-B7AE-5E570F818F86}"/>
              </a:ext>
            </a:extLst>
          </p:cNvPr>
          <p:cNvSpPr>
            <a:spLocks noGrp="1"/>
          </p:cNvSpPr>
          <p:nvPr>
            <p:ph type="dt" sz="half" idx="10"/>
          </p:nvPr>
        </p:nvSpPr>
        <p:spPr/>
        <p:txBody>
          <a:bodyPr/>
          <a:lstStyle/>
          <a:p>
            <a:fld id="{54DF697F-7D60-4766-BFD9-681758DF1DEE}" type="datetimeFigureOut">
              <a:rPr lang="en-IN" smtClean="0"/>
              <a:t>15-10-2023</a:t>
            </a:fld>
            <a:endParaRPr lang="en-IN"/>
          </a:p>
        </p:txBody>
      </p:sp>
      <p:sp>
        <p:nvSpPr>
          <p:cNvPr id="5" name="Footer Placeholder 4">
            <a:extLst>
              <a:ext uri="{FF2B5EF4-FFF2-40B4-BE49-F238E27FC236}">
                <a16:creationId xmlns:a16="http://schemas.microsoft.com/office/drawing/2014/main" id="{79D8BC28-2331-40F6-99EB-D786B2D729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0EF133-AF1A-4C18-A213-AF390869AC28}"/>
              </a:ext>
            </a:extLst>
          </p:cNvPr>
          <p:cNvSpPr>
            <a:spLocks noGrp="1"/>
          </p:cNvSpPr>
          <p:nvPr>
            <p:ph type="sldNum" sz="quarter" idx="12"/>
          </p:nvPr>
        </p:nvSpPr>
        <p:spPr/>
        <p:txBody>
          <a:bodyPr/>
          <a:lstStyle/>
          <a:p>
            <a:fld id="{010811F0-5644-4017-A36B-713CFF4E0440}" type="slidenum">
              <a:rPr lang="en-IN" smtClean="0"/>
              <a:t>‹#›</a:t>
            </a:fld>
            <a:endParaRPr lang="en-IN"/>
          </a:p>
        </p:txBody>
      </p:sp>
    </p:spTree>
    <p:extLst>
      <p:ext uri="{BB962C8B-B14F-4D97-AF65-F5344CB8AC3E}">
        <p14:creationId xmlns:p14="http://schemas.microsoft.com/office/powerpoint/2010/main" val="2974675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3.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4DF697F-7D60-4766-BFD9-681758DF1DEE}" type="datetimeFigureOut">
              <a:rPr lang="en-IN" smtClean="0"/>
              <a:t>15-10-2023</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10811F0-5644-4017-A36B-713CFF4E0440}" type="slidenum">
              <a:rPr lang="en-IN" smtClean="0"/>
              <a:t>‹#›</a:t>
            </a:fld>
            <a:endParaRPr lang="en-IN"/>
          </a:p>
        </p:txBody>
      </p:sp>
    </p:spTree>
    <p:extLst>
      <p:ext uri="{BB962C8B-B14F-4D97-AF65-F5344CB8AC3E}">
        <p14:creationId xmlns:p14="http://schemas.microsoft.com/office/powerpoint/2010/main" val="1423253026"/>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4DF697F-7D60-4766-BFD9-681758DF1DEE}" type="datetimeFigureOut">
              <a:rPr lang="en-IN" smtClean="0"/>
              <a:t>15-10-2023</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10811F0-5644-4017-A36B-713CFF4E0440}" type="slidenum">
              <a:rPr lang="en-IN" smtClean="0"/>
              <a:t>‹#›</a:t>
            </a:fld>
            <a:endParaRPr lang="en-IN"/>
          </a:p>
        </p:txBody>
      </p:sp>
    </p:spTree>
    <p:extLst>
      <p:ext uri="{BB962C8B-B14F-4D97-AF65-F5344CB8AC3E}">
        <p14:creationId xmlns:p14="http://schemas.microsoft.com/office/powerpoint/2010/main" val="2459172997"/>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AF6D4E-0FC0-4D4B-8A4A-4F7EBC751D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0F5A9D-3512-4538-A70E-A63377A010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FC544C-9252-48A1-B57D-0D2BD86E0E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F697F-7D60-4766-BFD9-681758DF1DEE}" type="datetimeFigureOut">
              <a:rPr lang="en-IN" smtClean="0"/>
              <a:t>15-10-2023</a:t>
            </a:fld>
            <a:endParaRPr lang="en-IN"/>
          </a:p>
        </p:txBody>
      </p:sp>
      <p:sp>
        <p:nvSpPr>
          <p:cNvPr id="5" name="Footer Placeholder 4">
            <a:extLst>
              <a:ext uri="{FF2B5EF4-FFF2-40B4-BE49-F238E27FC236}">
                <a16:creationId xmlns:a16="http://schemas.microsoft.com/office/drawing/2014/main" id="{F382E70F-0397-43AA-9CE6-5F06392C4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242B70-8F0C-4A93-B9DD-AF6584A4B7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0811F0-5644-4017-A36B-713CFF4E0440}" type="slidenum">
              <a:rPr lang="en-IN" smtClean="0"/>
              <a:t>‹#›</a:t>
            </a:fld>
            <a:endParaRPr lang="en-IN"/>
          </a:p>
        </p:txBody>
      </p:sp>
    </p:spTree>
    <p:extLst>
      <p:ext uri="{BB962C8B-B14F-4D97-AF65-F5344CB8AC3E}">
        <p14:creationId xmlns:p14="http://schemas.microsoft.com/office/powerpoint/2010/main" val="61922822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36.xml"/><Relationship Id="rId5" Type="http://schemas.openxmlformats.org/officeDocument/2006/relationships/image" Target="../media/image5.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5E0D-9869-48B6-AF70-5662818E9920}"/>
              </a:ext>
            </a:extLst>
          </p:cNvPr>
          <p:cNvSpPr>
            <a:spLocks noGrp="1"/>
          </p:cNvSpPr>
          <p:nvPr>
            <p:ph type="ctrTitle"/>
          </p:nvPr>
        </p:nvSpPr>
        <p:spPr>
          <a:xfrm>
            <a:off x="1524000" y="1122363"/>
            <a:ext cx="9144000" cy="1437957"/>
          </a:xfrm>
        </p:spPr>
        <p:txBody>
          <a:bodyPr/>
          <a:lstStyle/>
          <a:p>
            <a:r>
              <a:rPr lang="en-US" dirty="0"/>
              <a:t>Case Study - 4</a:t>
            </a:r>
            <a:endParaRPr lang="en-IN" dirty="0"/>
          </a:p>
        </p:txBody>
      </p:sp>
      <p:sp>
        <p:nvSpPr>
          <p:cNvPr id="3" name="Subtitle 2">
            <a:extLst>
              <a:ext uri="{FF2B5EF4-FFF2-40B4-BE49-F238E27FC236}">
                <a16:creationId xmlns:a16="http://schemas.microsoft.com/office/drawing/2014/main" id="{2985DB68-659D-44AB-83E3-76E5EC144386}"/>
              </a:ext>
            </a:extLst>
          </p:cNvPr>
          <p:cNvSpPr>
            <a:spLocks noGrp="1"/>
          </p:cNvSpPr>
          <p:nvPr>
            <p:ph type="subTitle" idx="1"/>
          </p:nvPr>
        </p:nvSpPr>
        <p:spPr>
          <a:xfrm>
            <a:off x="1524000" y="3080825"/>
            <a:ext cx="9144000" cy="2176975"/>
          </a:xfrm>
        </p:spPr>
        <p:txBody>
          <a:bodyPr>
            <a:normAutofit/>
          </a:bodyPr>
          <a:lstStyle/>
          <a:p>
            <a:r>
              <a:rPr lang="en-US" sz="5400" dirty="0"/>
              <a:t>Cost Prediction On </a:t>
            </a:r>
            <a:r>
              <a:rPr lang="en-US" sz="5400" dirty="0" err="1"/>
              <a:t>Aquiring</a:t>
            </a:r>
            <a:r>
              <a:rPr lang="en-US" sz="5400" dirty="0"/>
              <a:t> Customer</a:t>
            </a:r>
            <a:endParaRPr lang="en-IN" sz="5400" dirty="0"/>
          </a:p>
        </p:txBody>
      </p:sp>
    </p:spTree>
    <p:extLst>
      <p:ext uri="{BB962C8B-B14F-4D97-AF65-F5344CB8AC3E}">
        <p14:creationId xmlns:p14="http://schemas.microsoft.com/office/powerpoint/2010/main" val="3363935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C3BAB-3FE6-4659-B475-CA3BCC4C605F}"/>
              </a:ext>
            </a:extLst>
          </p:cNvPr>
          <p:cNvSpPr>
            <a:spLocks noGrp="1"/>
          </p:cNvSpPr>
          <p:nvPr>
            <p:ph type="title"/>
          </p:nvPr>
        </p:nvSpPr>
        <p:spPr>
          <a:xfrm>
            <a:off x="913775" y="618517"/>
            <a:ext cx="6091936" cy="1596177"/>
          </a:xfrm>
        </p:spPr>
        <p:txBody>
          <a:bodyPr/>
          <a:lstStyle/>
          <a:p>
            <a:r>
              <a:rPr lang="en-US" dirty="0"/>
              <a:t>List of participants:</a:t>
            </a:r>
            <a:endParaRPr lang="en-IN" dirty="0"/>
          </a:p>
        </p:txBody>
      </p:sp>
      <p:sp>
        <p:nvSpPr>
          <p:cNvPr id="3" name="Content Placeholder 2">
            <a:extLst>
              <a:ext uri="{FF2B5EF4-FFF2-40B4-BE49-F238E27FC236}">
                <a16:creationId xmlns:a16="http://schemas.microsoft.com/office/drawing/2014/main" id="{751F0FC5-2E13-4A3D-A568-B8410835FD7E}"/>
              </a:ext>
            </a:extLst>
          </p:cNvPr>
          <p:cNvSpPr>
            <a:spLocks noGrp="1"/>
          </p:cNvSpPr>
          <p:nvPr>
            <p:ph idx="1"/>
          </p:nvPr>
        </p:nvSpPr>
        <p:spPr>
          <a:xfrm>
            <a:off x="913775" y="1899138"/>
            <a:ext cx="10364452" cy="4445391"/>
          </a:xfrm>
        </p:spPr>
        <p:txBody>
          <a:bodyPr/>
          <a:lstStyle/>
          <a:p>
            <a:r>
              <a:rPr lang="en-US" dirty="0"/>
              <a:t>SHARDUL KULKARNI, Student IIIT Delhi, P.G.D. CS&amp;AI</a:t>
            </a:r>
          </a:p>
          <a:p>
            <a:r>
              <a:rPr lang="en-US" dirty="0"/>
              <a:t>KARAN BHUTANI, Student IIIT Delhi, P.G.D. CS&amp;AI</a:t>
            </a:r>
            <a:endParaRPr lang="en-IN" dirty="0"/>
          </a:p>
          <a:p>
            <a:r>
              <a:rPr lang="en-US" dirty="0"/>
              <a:t>GULAM RASOOL, Student IIIT Delhi, P.G.D. CS&amp;AI</a:t>
            </a:r>
            <a:endParaRPr lang="en-IN" dirty="0"/>
          </a:p>
          <a:p>
            <a:r>
              <a:rPr lang="en-US" dirty="0"/>
              <a:t>MALLIKA YETURI, Student IIIT Delhi, P.G.D. CS&amp;AI</a:t>
            </a:r>
            <a:endParaRPr lang="en-IN" dirty="0"/>
          </a:p>
          <a:p>
            <a:r>
              <a:rPr lang="en-US" dirty="0"/>
              <a:t>DEVI CHARAN GUDURU, Student IIIT Delhi, P.G.D. CS&amp;AI</a:t>
            </a:r>
            <a:endParaRPr lang="en-IN" dirty="0"/>
          </a:p>
          <a:p>
            <a:r>
              <a:rPr lang="en-US" dirty="0"/>
              <a:t>USHNA AHMED, Student IIIT Delhi, P.G.D. CS&amp;AI</a:t>
            </a:r>
            <a:endParaRPr lang="en-IN" dirty="0"/>
          </a:p>
          <a:p>
            <a:r>
              <a:rPr lang="en-US" dirty="0"/>
              <a:t>ANWESH REDDY PADURI, </a:t>
            </a:r>
            <a:r>
              <a:rPr lang="en-US" dirty="0" err="1"/>
              <a:t>Sr.Data</a:t>
            </a:r>
            <a:r>
              <a:rPr lang="en-US" dirty="0"/>
              <a:t> Scientist, GREAT LEARNING</a:t>
            </a:r>
            <a:endParaRPr lang="en-IN" dirty="0"/>
          </a:p>
          <a:p>
            <a:endParaRPr lang="en-US" dirty="0"/>
          </a:p>
        </p:txBody>
      </p:sp>
    </p:spTree>
    <p:extLst>
      <p:ext uri="{BB962C8B-B14F-4D97-AF65-F5344CB8AC3E}">
        <p14:creationId xmlns:p14="http://schemas.microsoft.com/office/powerpoint/2010/main" val="161163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C2FF-4BA8-46EB-B07D-C216A91C348E}"/>
              </a:ext>
            </a:extLst>
          </p:cNvPr>
          <p:cNvSpPr>
            <a:spLocks noGrp="1"/>
          </p:cNvSpPr>
          <p:nvPr>
            <p:ph type="title"/>
          </p:nvPr>
        </p:nvSpPr>
        <p:spPr>
          <a:xfrm>
            <a:off x="257907" y="365125"/>
            <a:ext cx="11095893" cy="1030141"/>
          </a:xfrm>
        </p:spPr>
        <p:txBody>
          <a:bodyPr/>
          <a:lstStyle/>
          <a:p>
            <a:r>
              <a:rPr lang="en-US" dirty="0"/>
              <a:t>Have you ever visited any Food Mart ?</a:t>
            </a:r>
            <a:endParaRPr lang="en-IN" dirty="0"/>
          </a:p>
        </p:txBody>
      </p:sp>
      <p:pic>
        <p:nvPicPr>
          <p:cNvPr id="5" name="Content Placeholder 4">
            <a:extLst>
              <a:ext uri="{FF2B5EF4-FFF2-40B4-BE49-F238E27FC236}">
                <a16:creationId xmlns:a16="http://schemas.microsoft.com/office/drawing/2014/main" id="{E6F71A64-98B2-4BED-A71C-19487CAC1C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908" y="1395267"/>
            <a:ext cx="5256627" cy="2867244"/>
          </a:xfrm>
        </p:spPr>
      </p:pic>
      <p:pic>
        <p:nvPicPr>
          <p:cNvPr id="7" name="Picture 6">
            <a:extLst>
              <a:ext uri="{FF2B5EF4-FFF2-40B4-BE49-F238E27FC236}">
                <a16:creationId xmlns:a16="http://schemas.microsoft.com/office/drawing/2014/main" id="{82F20A55-CD4C-41E6-B800-B521B5FEA8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4536" y="1395266"/>
            <a:ext cx="6124136" cy="2867244"/>
          </a:xfrm>
          <a:prstGeom prst="rect">
            <a:avLst/>
          </a:prstGeom>
        </p:spPr>
      </p:pic>
      <p:pic>
        <p:nvPicPr>
          <p:cNvPr id="9" name="Picture 8">
            <a:extLst>
              <a:ext uri="{FF2B5EF4-FFF2-40B4-BE49-F238E27FC236}">
                <a16:creationId xmlns:a16="http://schemas.microsoft.com/office/drawing/2014/main" id="{4AB454CB-3D9F-4AC3-90D4-6A2B377655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907" y="4262511"/>
            <a:ext cx="5256627" cy="2595490"/>
          </a:xfrm>
          <a:prstGeom prst="rect">
            <a:avLst/>
          </a:prstGeom>
        </p:spPr>
      </p:pic>
      <p:pic>
        <p:nvPicPr>
          <p:cNvPr id="11" name="Picture 10">
            <a:extLst>
              <a:ext uri="{FF2B5EF4-FFF2-40B4-BE49-F238E27FC236}">
                <a16:creationId xmlns:a16="http://schemas.microsoft.com/office/drawing/2014/main" id="{92830EAD-776D-413E-9F45-E371E419F0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4534" y="4262510"/>
            <a:ext cx="6124136" cy="2595490"/>
          </a:xfrm>
          <a:prstGeom prst="rect">
            <a:avLst/>
          </a:prstGeom>
        </p:spPr>
      </p:pic>
    </p:spTree>
    <p:extLst>
      <p:ext uri="{BB962C8B-B14F-4D97-AF65-F5344CB8AC3E}">
        <p14:creationId xmlns:p14="http://schemas.microsoft.com/office/powerpoint/2010/main" val="2581373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ED352-BAD1-4E55-A678-42EBCE517BDE}"/>
              </a:ext>
            </a:extLst>
          </p:cNvPr>
          <p:cNvSpPr>
            <a:spLocks noGrp="1"/>
          </p:cNvSpPr>
          <p:nvPr>
            <p:ph type="title"/>
          </p:nvPr>
        </p:nvSpPr>
        <p:spPr/>
        <p:txBody>
          <a:bodyPr/>
          <a:lstStyle/>
          <a:p>
            <a:r>
              <a:rPr lang="en-US" dirty="0"/>
              <a:t>What these trends indicate ?</a:t>
            </a:r>
            <a:endParaRPr lang="en-IN" dirty="0"/>
          </a:p>
        </p:txBody>
      </p:sp>
      <p:pic>
        <p:nvPicPr>
          <p:cNvPr id="5" name="Content Placeholder 4">
            <a:extLst>
              <a:ext uri="{FF2B5EF4-FFF2-40B4-BE49-F238E27FC236}">
                <a16:creationId xmlns:a16="http://schemas.microsoft.com/office/drawing/2014/main" id="{F364BE2E-5B56-42C6-8DB7-DD2AB78EA5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4"/>
            <a:ext cx="9839178" cy="4667251"/>
          </a:xfrm>
        </p:spPr>
      </p:pic>
    </p:spTree>
    <p:extLst>
      <p:ext uri="{BB962C8B-B14F-4D97-AF65-F5344CB8AC3E}">
        <p14:creationId xmlns:p14="http://schemas.microsoft.com/office/powerpoint/2010/main" val="2243687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C1D8-CEDA-4CA8-92D5-5A6CCD175074}"/>
              </a:ext>
            </a:extLst>
          </p:cNvPr>
          <p:cNvSpPr>
            <a:spLocks noGrp="1"/>
          </p:cNvSpPr>
          <p:nvPr>
            <p:ph type="title"/>
          </p:nvPr>
        </p:nvSpPr>
        <p:spPr>
          <a:xfrm>
            <a:off x="913794" y="182881"/>
            <a:ext cx="5754291" cy="1507806"/>
          </a:xfrm>
        </p:spPr>
        <p:txBody>
          <a:bodyPr/>
          <a:lstStyle/>
          <a:p>
            <a:r>
              <a:rPr lang="en-US" dirty="0"/>
              <a:t>Problem Statement : </a:t>
            </a:r>
            <a:endParaRPr lang="en-IN" dirty="0"/>
          </a:p>
        </p:txBody>
      </p:sp>
      <p:sp>
        <p:nvSpPr>
          <p:cNvPr id="3" name="Content Placeholder 2">
            <a:extLst>
              <a:ext uri="{FF2B5EF4-FFF2-40B4-BE49-F238E27FC236}">
                <a16:creationId xmlns:a16="http://schemas.microsoft.com/office/drawing/2014/main" id="{21ABE782-3BA4-4BA2-82DC-00E574AD80D7}"/>
              </a:ext>
            </a:extLst>
          </p:cNvPr>
          <p:cNvSpPr>
            <a:spLocks noGrp="1"/>
          </p:cNvSpPr>
          <p:nvPr>
            <p:ph idx="1"/>
          </p:nvPr>
        </p:nvSpPr>
        <p:spPr>
          <a:xfrm>
            <a:off x="838200" y="1690686"/>
            <a:ext cx="10515600" cy="4780451"/>
          </a:xfrm>
        </p:spPr>
        <p:txBody>
          <a:bodyPr>
            <a:normAutofit/>
          </a:bodyPr>
          <a:lstStyle/>
          <a:p>
            <a:r>
              <a:rPr lang="en-US" dirty="0"/>
              <a:t>Food mart X is a chain of convenience stores in the United States. The private company’s headquarters are in Mentor, Ohio, and currently, approximately 325 stores are in the US. Convenient food mart operates on the franchise system.</a:t>
            </a:r>
          </a:p>
          <a:p>
            <a:r>
              <a:rPr lang="en-US" dirty="0"/>
              <a:t>Machine Learning helps retailers to predict the future through simulating scenarios that predetermine the outcomes and identify the crucial action areas.</a:t>
            </a:r>
          </a:p>
          <a:p>
            <a:r>
              <a:rPr lang="en-US" dirty="0"/>
              <a:t>In Cost prediction on acquiring customers, we need to predict the cost of media campaigns in food mart of USA. In this challenge, you’re required to build an ML model to predict the media cost based on the customer’s details, product details, promotion details, and store details.</a:t>
            </a:r>
          </a:p>
          <a:p>
            <a:endParaRPr lang="en-IN" dirty="0"/>
          </a:p>
        </p:txBody>
      </p:sp>
    </p:spTree>
    <p:extLst>
      <p:ext uri="{BB962C8B-B14F-4D97-AF65-F5344CB8AC3E}">
        <p14:creationId xmlns:p14="http://schemas.microsoft.com/office/powerpoint/2010/main" val="1788582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2485-5919-4EC5-8E72-1EDD9C9CA552}"/>
              </a:ext>
            </a:extLst>
          </p:cNvPr>
          <p:cNvSpPr>
            <a:spLocks noGrp="1"/>
          </p:cNvSpPr>
          <p:nvPr>
            <p:ph type="title"/>
          </p:nvPr>
        </p:nvSpPr>
        <p:spPr/>
        <p:txBody>
          <a:bodyPr/>
          <a:lstStyle/>
          <a:p>
            <a:r>
              <a:rPr lang="en-US" dirty="0"/>
              <a:t>Literature Review :</a:t>
            </a:r>
            <a:endParaRPr lang="en-IN" dirty="0"/>
          </a:p>
        </p:txBody>
      </p:sp>
      <p:sp>
        <p:nvSpPr>
          <p:cNvPr id="3" name="Content Placeholder 2">
            <a:extLst>
              <a:ext uri="{FF2B5EF4-FFF2-40B4-BE49-F238E27FC236}">
                <a16:creationId xmlns:a16="http://schemas.microsoft.com/office/drawing/2014/main" id="{294F240F-EC0D-4B68-898A-57B277157D73}"/>
              </a:ext>
            </a:extLst>
          </p:cNvPr>
          <p:cNvSpPr>
            <a:spLocks noGrp="1"/>
          </p:cNvSpPr>
          <p:nvPr>
            <p:ph idx="1"/>
          </p:nvPr>
        </p:nvSpPr>
        <p:spPr/>
        <p:txBody>
          <a:bodyPr>
            <a:normAutofit fontScale="92500" lnSpcReduction="20000"/>
          </a:bodyPr>
          <a:lstStyle/>
          <a:p>
            <a:r>
              <a:rPr lang="en-IN" dirty="0">
                <a:effectLst/>
              </a:rPr>
              <a:t>In the literature review conducted for the project, various regression models were explored to forecast the cost of customer acquisition. The initial choice for the base model was Linear Regression, given its suitability for predictive </a:t>
            </a:r>
            <a:r>
              <a:rPr lang="en-IN" dirty="0" err="1">
                <a:effectLst/>
              </a:rPr>
              <a:t>modeling</a:t>
            </a:r>
            <a:r>
              <a:rPr lang="en-IN" dirty="0">
                <a:effectLst/>
              </a:rPr>
              <a:t>. However, due to the complexity of the data and the non-linearity between dependent and independent variables, alternative models were considered. These alternative models included Multiple Linear Regression, Polynomial Regression, Gradient Boosting Regression, Decision Tree Regressor, Random Forest Regressor, and Support Vector Regression (SVR).</a:t>
            </a:r>
          </a:p>
          <a:p>
            <a:r>
              <a:rPr lang="en-IN" dirty="0">
                <a:effectLst/>
              </a:rPr>
              <a:t>The project assessed the performance of these models using key metrics such as Mean Absolute Error (MAE), Mean Squared Error (MSE), Root Mean Squared Error (RMSE), and R2 Score. Among these models, Decision Tree and Random Forest emerged as top performers, demonstrating high accuracy levels, particularly when tuned with specific hyperparameters.</a:t>
            </a:r>
          </a:p>
          <a:p>
            <a:endParaRPr lang="en-IN" dirty="0"/>
          </a:p>
        </p:txBody>
      </p:sp>
    </p:spTree>
    <p:extLst>
      <p:ext uri="{BB962C8B-B14F-4D97-AF65-F5344CB8AC3E}">
        <p14:creationId xmlns:p14="http://schemas.microsoft.com/office/powerpoint/2010/main" val="3276401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94ACA-92DF-4916-810A-52C3D3064596}"/>
              </a:ext>
            </a:extLst>
          </p:cNvPr>
          <p:cNvSpPr>
            <a:spLocks noGrp="1"/>
          </p:cNvSpPr>
          <p:nvPr>
            <p:ph type="title"/>
          </p:nvPr>
        </p:nvSpPr>
        <p:spPr/>
        <p:txBody>
          <a:bodyPr/>
          <a:lstStyle/>
          <a:p>
            <a:r>
              <a:rPr lang="en-US" dirty="0"/>
              <a:t>Literature Review :</a:t>
            </a:r>
            <a:endParaRPr lang="en-IN" dirty="0"/>
          </a:p>
        </p:txBody>
      </p:sp>
      <p:sp>
        <p:nvSpPr>
          <p:cNvPr id="3" name="Content Placeholder 2">
            <a:extLst>
              <a:ext uri="{FF2B5EF4-FFF2-40B4-BE49-F238E27FC236}">
                <a16:creationId xmlns:a16="http://schemas.microsoft.com/office/drawing/2014/main" id="{B06DAE10-2DE1-4D85-96AD-96D615322D17}"/>
              </a:ext>
            </a:extLst>
          </p:cNvPr>
          <p:cNvSpPr>
            <a:spLocks noGrp="1"/>
          </p:cNvSpPr>
          <p:nvPr>
            <p:ph idx="1"/>
          </p:nvPr>
        </p:nvSpPr>
        <p:spPr/>
        <p:txBody>
          <a:bodyPr/>
          <a:lstStyle/>
          <a:p>
            <a:r>
              <a:rPr lang="en-IN" dirty="0">
                <a:effectLst/>
              </a:rPr>
              <a:t>The literature review highlights the growing significance of CAC prediction in marketing and the various methods employed for estimating acquisition costs. Traditional regression techniques provide a foundation for cost prediction, while machine learning methods offer advanced capabilities for </a:t>
            </a:r>
            <a:r>
              <a:rPr lang="en-IN" dirty="0" err="1">
                <a:effectLst/>
              </a:rPr>
              <a:t>modeling</a:t>
            </a:r>
            <a:r>
              <a:rPr lang="en-IN" dirty="0">
                <a:effectLst/>
              </a:rPr>
              <a:t> complex relationships and improving accuracy. The choice of method depends on the specific dataset and the goals of the analysis. As marketing continues to evolve, the integration of machine learning and data science into CAC prediction remains a dynamic area of research.</a:t>
            </a:r>
          </a:p>
          <a:p>
            <a:endParaRPr lang="en-IN" dirty="0"/>
          </a:p>
        </p:txBody>
      </p:sp>
    </p:spTree>
    <p:extLst>
      <p:ext uri="{BB962C8B-B14F-4D97-AF65-F5344CB8AC3E}">
        <p14:creationId xmlns:p14="http://schemas.microsoft.com/office/powerpoint/2010/main" val="1271475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9766F-6B57-428B-AC9A-8E1B5772687E}"/>
              </a:ext>
            </a:extLst>
          </p:cNvPr>
          <p:cNvSpPr>
            <a:spLocks noGrp="1"/>
          </p:cNvSpPr>
          <p:nvPr>
            <p:ph type="title"/>
          </p:nvPr>
        </p:nvSpPr>
        <p:spPr>
          <a:xfrm>
            <a:off x="838200" y="365125"/>
            <a:ext cx="10515600" cy="816561"/>
          </a:xfrm>
        </p:spPr>
        <p:txBody>
          <a:bodyPr/>
          <a:lstStyle/>
          <a:p>
            <a:r>
              <a:rPr lang="en-US" dirty="0"/>
              <a:t>Exploratory Data Analysis :</a:t>
            </a:r>
            <a:endParaRPr lang="en-IN" dirty="0"/>
          </a:p>
        </p:txBody>
      </p:sp>
      <p:pic>
        <p:nvPicPr>
          <p:cNvPr id="1028" name="Picture 4">
            <a:extLst>
              <a:ext uri="{FF2B5EF4-FFF2-40B4-BE49-F238E27FC236}">
                <a16:creationId xmlns:a16="http://schemas.microsoft.com/office/drawing/2014/main" id="{FA24B7AF-D666-4282-A1EB-C793B13164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13800" y="730737"/>
            <a:ext cx="6412439" cy="564192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D22D687B-BBE7-45C5-A57D-B5CB472FE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 y="1575582"/>
            <a:ext cx="4867422" cy="4797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984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B56F6B17-EAFC-4D3F-9985-639931D07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620" y="145587"/>
            <a:ext cx="11511768" cy="6712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4371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AC70B959-C284-43CD-A6FB-254C0492C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228" y="633046"/>
            <a:ext cx="8131126" cy="566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6467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76C78608-B984-47EA-87F4-2D83AC99C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58" y="215925"/>
            <a:ext cx="11477991" cy="652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7006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1268-3C5F-40B8-862D-57EAE2904A03}"/>
              </a:ext>
            </a:extLst>
          </p:cNvPr>
          <p:cNvSpPr>
            <a:spLocks noGrp="1"/>
          </p:cNvSpPr>
          <p:nvPr>
            <p:ph type="title"/>
          </p:nvPr>
        </p:nvSpPr>
        <p:spPr/>
        <p:txBody>
          <a:bodyPr/>
          <a:lstStyle/>
          <a:p>
            <a:r>
              <a:rPr lang="en-US" dirty="0"/>
              <a:t>Tentative List Of Algorithms:</a:t>
            </a:r>
            <a:endParaRPr lang="en-IN" dirty="0"/>
          </a:p>
        </p:txBody>
      </p:sp>
      <p:sp>
        <p:nvSpPr>
          <p:cNvPr id="3" name="Content Placeholder 2">
            <a:extLst>
              <a:ext uri="{FF2B5EF4-FFF2-40B4-BE49-F238E27FC236}">
                <a16:creationId xmlns:a16="http://schemas.microsoft.com/office/drawing/2014/main" id="{ACCF4836-FA50-4F9C-BDF4-BA490D36DF66}"/>
              </a:ext>
            </a:extLst>
          </p:cNvPr>
          <p:cNvSpPr>
            <a:spLocks noGrp="1"/>
          </p:cNvSpPr>
          <p:nvPr>
            <p:ph idx="1"/>
          </p:nvPr>
        </p:nvSpPr>
        <p:spPr>
          <a:xfrm>
            <a:off x="838200" y="1825624"/>
            <a:ext cx="10515600" cy="4772123"/>
          </a:xfrm>
        </p:spPr>
        <p:txBody>
          <a:bodyPr/>
          <a:lstStyle/>
          <a:p>
            <a:r>
              <a:rPr lang="en-US" dirty="0"/>
              <a:t>Linear Regression</a:t>
            </a:r>
          </a:p>
          <a:p>
            <a:r>
              <a:rPr lang="en-US" dirty="0"/>
              <a:t>Decision Tree Regressor</a:t>
            </a:r>
          </a:p>
          <a:p>
            <a:r>
              <a:rPr lang="en-US" dirty="0"/>
              <a:t>Random Forest Regressor</a:t>
            </a:r>
          </a:p>
          <a:p>
            <a:r>
              <a:rPr lang="en-US" dirty="0"/>
              <a:t>Support Vector Machines</a:t>
            </a:r>
          </a:p>
          <a:p>
            <a:r>
              <a:rPr lang="en-US" dirty="0"/>
              <a:t>Gradient Boosting Regressor</a:t>
            </a:r>
          </a:p>
          <a:p>
            <a:r>
              <a:rPr lang="en-US" dirty="0"/>
              <a:t>Multi-linear Regression using ANN</a:t>
            </a:r>
            <a:endParaRPr lang="en-IN" dirty="0"/>
          </a:p>
          <a:p>
            <a:endParaRPr lang="en-IN" dirty="0"/>
          </a:p>
        </p:txBody>
      </p:sp>
    </p:spTree>
    <p:extLst>
      <p:ext uri="{BB962C8B-B14F-4D97-AF65-F5344CB8AC3E}">
        <p14:creationId xmlns:p14="http://schemas.microsoft.com/office/powerpoint/2010/main" val="1296604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011B-1328-49D3-93D3-6ACF5EABAAFC}"/>
              </a:ext>
            </a:extLst>
          </p:cNvPr>
          <p:cNvSpPr>
            <a:spLocks noGrp="1"/>
          </p:cNvSpPr>
          <p:nvPr>
            <p:ph type="title"/>
          </p:nvPr>
        </p:nvSpPr>
        <p:spPr/>
        <p:txBody>
          <a:bodyPr/>
          <a:lstStyle/>
          <a:p>
            <a:r>
              <a:rPr lang="en-US" dirty="0"/>
              <a:t>Steps involved :</a:t>
            </a:r>
            <a:endParaRPr lang="en-IN" dirty="0"/>
          </a:p>
        </p:txBody>
      </p:sp>
      <p:sp>
        <p:nvSpPr>
          <p:cNvPr id="3" name="Content Placeholder 2">
            <a:extLst>
              <a:ext uri="{FF2B5EF4-FFF2-40B4-BE49-F238E27FC236}">
                <a16:creationId xmlns:a16="http://schemas.microsoft.com/office/drawing/2014/main" id="{3CEA2FB9-2B55-4C65-81A7-76EF21A06A78}"/>
              </a:ext>
            </a:extLst>
          </p:cNvPr>
          <p:cNvSpPr>
            <a:spLocks noGrp="1"/>
          </p:cNvSpPr>
          <p:nvPr>
            <p:ph idx="1"/>
          </p:nvPr>
        </p:nvSpPr>
        <p:spPr>
          <a:xfrm>
            <a:off x="913795" y="1730325"/>
            <a:ext cx="10353762" cy="4628271"/>
          </a:xfrm>
        </p:spPr>
        <p:txBody>
          <a:bodyPr/>
          <a:lstStyle/>
          <a:p>
            <a:r>
              <a:rPr lang="en-US" dirty="0"/>
              <a:t>Import necessary libraries</a:t>
            </a:r>
          </a:p>
          <a:p>
            <a:r>
              <a:rPr lang="en-US" dirty="0"/>
              <a:t>Extract data into pandas </a:t>
            </a:r>
            <a:r>
              <a:rPr lang="en-US" dirty="0" err="1"/>
              <a:t>dataframe</a:t>
            </a:r>
            <a:r>
              <a:rPr lang="en-US"/>
              <a:t> .</a:t>
            </a:r>
            <a:endParaRPr lang="en-US" dirty="0"/>
          </a:p>
          <a:p>
            <a:r>
              <a:rPr lang="en-US" dirty="0"/>
              <a:t>Data Preprocessing </a:t>
            </a:r>
            <a:r>
              <a:rPr lang="en-IN" dirty="0"/>
              <a:t>(Missing value imputation, duplicate records removal , encoding)</a:t>
            </a:r>
          </a:p>
          <a:p>
            <a:r>
              <a:rPr lang="en-US" dirty="0"/>
              <a:t>E</a:t>
            </a:r>
            <a:r>
              <a:rPr lang="en-IN" dirty="0" err="1"/>
              <a:t>xploratory</a:t>
            </a:r>
            <a:r>
              <a:rPr lang="en-IN" dirty="0"/>
              <a:t> Data Analysis</a:t>
            </a:r>
          </a:p>
          <a:p>
            <a:r>
              <a:rPr lang="en-US" dirty="0"/>
              <a:t>Data S</a:t>
            </a:r>
            <a:r>
              <a:rPr lang="en-IN" dirty="0" err="1"/>
              <a:t>ampling</a:t>
            </a:r>
            <a:endParaRPr lang="en-IN" dirty="0"/>
          </a:p>
          <a:p>
            <a:r>
              <a:rPr lang="en-US" dirty="0"/>
              <a:t>M</a:t>
            </a:r>
            <a:r>
              <a:rPr lang="en-IN" dirty="0" err="1"/>
              <a:t>odel</a:t>
            </a:r>
            <a:r>
              <a:rPr lang="en-IN" dirty="0"/>
              <a:t> Building</a:t>
            </a:r>
          </a:p>
          <a:p>
            <a:r>
              <a:rPr lang="en-US" dirty="0"/>
              <a:t>P</a:t>
            </a:r>
            <a:r>
              <a:rPr lang="en-IN" dirty="0" err="1"/>
              <a:t>erformance</a:t>
            </a:r>
            <a:r>
              <a:rPr lang="en-IN" dirty="0"/>
              <a:t> evaluation</a:t>
            </a:r>
          </a:p>
          <a:p>
            <a:r>
              <a:rPr lang="en-US" dirty="0"/>
              <a:t>D</a:t>
            </a:r>
            <a:r>
              <a:rPr lang="en-IN" dirty="0" err="1"/>
              <a:t>eployment</a:t>
            </a:r>
            <a:endParaRPr lang="en-IN" dirty="0"/>
          </a:p>
          <a:p>
            <a:endParaRPr lang="en-US" dirty="0"/>
          </a:p>
        </p:txBody>
      </p:sp>
    </p:spTree>
    <p:extLst>
      <p:ext uri="{BB962C8B-B14F-4D97-AF65-F5344CB8AC3E}">
        <p14:creationId xmlns:p14="http://schemas.microsoft.com/office/powerpoint/2010/main" val="3085682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95C4-1EED-4E0F-B90F-14E47FC5399D}"/>
              </a:ext>
            </a:extLst>
          </p:cNvPr>
          <p:cNvSpPr>
            <a:spLocks noGrp="1"/>
          </p:cNvSpPr>
          <p:nvPr>
            <p:ph type="title"/>
          </p:nvPr>
        </p:nvSpPr>
        <p:spPr>
          <a:xfrm>
            <a:off x="562709" y="119576"/>
            <a:ext cx="7554350" cy="1104314"/>
          </a:xfrm>
        </p:spPr>
        <p:txBody>
          <a:bodyPr/>
          <a:lstStyle/>
          <a:p>
            <a:r>
              <a:rPr lang="en-US" dirty="0"/>
              <a:t>Performance Evaluation :</a:t>
            </a:r>
            <a:endParaRPr lang="en-IN" dirty="0"/>
          </a:p>
        </p:txBody>
      </p:sp>
      <p:sp>
        <p:nvSpPr>
          <p:cNvPr id="3" name="Content Placeholder 2">
            <a:extLst>
              <a:ext uri="{FF2B5EF4-FFF2-40B4-BE49-F238E27FC236}">
                <a16:creationId xmlns:a16="http://schemas.microsoft.com/office/drawing/2014/main" id="{E298F75F-F22A-4FDC-97E5-626A521E14D6}"/>
              </a:ext>
            </a:extLst>
          </p:cNvPr>
          <p:cNvSpPr>
            <a:spLocks noGrp="1"/>
          </p:cNvSpPr>
          <p:nvPr>
            <p:ph idx="1"/>
          </p:nvPr>
        </p:nvSpPr>
        <p:spPr>
          <a:xfrm>
            <a:off x="838200" y="1223890"/>
            <a:ext cx="10515600" cy="5514535"/>
          </a:xfrm>
        </p:spPr>
        <p:txBody>
          <a:bodyPr>
            <a:normAutofit lnSpcReduction="10000"/>
          </a:bodyPr>
          <a:lstStyle/>
          <a:p>
            <a:pPr marL="0" indent="0">
              <a:buNone/>
            </a:pPr>
            <a:r>
              <a:rPr lang="en-US" sz="2400" dirty="0"/>
              <a:t>We will consider following performance evaluation parameters to compare performance of different regression models :</a:t>
            </a:r>
          </a:p>
          <a:p>
            <a:pPr marL="0" indent="0">
              <a:buNone/>
            </a:pPr>
            <a:endParaRPr lang="en-US" sz="2400" dirty="0"/>
          </a:p>
          <a:p>
            <a:r>
              <a:rPr lang="en-US" sz="2400" b="1" u="sng" dirty="0"/>
              <a:t>R2 Score </a:t>
            </a:r>
            <a:r>
              <a:rPr lang="en-US" sz="2400" dirty="0"/>
              <a:t>:  R-squared (R</a:t>
            </a:r>
            <a:r>
              <a:rPr lang="en-US" sz="2400" baseline="30000" dirty="0"/>
              <a:t>2</a:t>
            </a:r>
            <a:r>
              <a:rPr lang="en-US" sz="2400" dirty="0"/>
              <a:t>) is a statistical measure that represents the proportion of the variance for a dependent variable that’s explained by an independent variable in a regression model.</a:t>
            </a:r>
          </a:p>
          <a:p>
            <a:r>
              <a:rPr lang="en-US" sz="2400" b="1" u="sng" dirty="0"/>
              <a:t>Mean Absolute Error </a:t>
            </a:r>
            <a:r>
              <a:rPr lang="en-US" sz="2400" dirty="0"/>
              <a:t>:  It represents difference between predicted value and actual value.</a:t>
            </a:r>
          </a:p>
          <a:p>
            <a:r>
              <a:rPr lang="en-US" sz="2400" b="1" u="sng" dirty="0"/>
              <a:t>Mean Square Error </a:t>
            </a:r>
            <a:r>
              <a:rPr lang="en-US" sz="2400" dirty="0"/>
              <a:t>:  It measures amount of error in statistical models. </a:t>
            </a:r>
          </a:p>
          <a:p>
            <a:r>
              <a:rPr lang="en-US" sz="2400" b="1" u="sng" dirty="0"/>
              <a:t>Root Mean Square Error </a:t>
            </a:r>
            <a:r>
              <a:rPr lang="en-US" sz="2400" dirty="0"/>
              <a:t>:  It provides an estimation of how well the model is able to predict the target value (accuracy).</a:t>
            </a:r>
            <a:endParaRPr lang="en-IN" sz="2400" dirty="0"/>
          </a:p>
        </p:txBody>
      </p:sp>
    </p:spTree>
    <p:extLst>
      <p:ext uri="{BB962C8B-B14F-4D97-AF65-F5344CB8AC3E}">
        <p14:creationId xmlns:p14="http://schemas.microsoft.com/office/powerpoint/2010/main" val="2428161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76C2C-4E37-43D4-85CE-A49CFC010248}"/>
              </a:ext>
            </a:extLst>
          </p:cNvPr>
          <p:cNvSpPr>
            <a:spLocks noGrp="1"/>
          </p:cNvSpPr>
          <p:nvPr>
            <p:ph type="title"/>
          </p:nvPr>
        </p:nvSpPr>
        <p:spPr>
          <a:xfrm>
            <a:off x="838200" y="365125"/>
            <a:ext cx="2791265" cy="999441"/>
          </a:xfrm>
        </p:spPr>
        <p:txBody>
          <a:bodyPr/>
          <a:lstStyle/>
          <a:p>
            <a:r>
              <a:rPr lang="en-US" b="1" dirty="0"/>
              <a:t>Results :</a:t>
            </a:r>
            <a:endParaRPr lang="en-IN" b="1" dirty="0"/>
          </a:p>
        </p:txBody>
      </p:sp>
      <p:graphicFrame>
        <p:nvGraphicFramePr>
          <p:cNvPr id="6" name="Content Placeholder 5">
            <a:extLst>
              <a:ext uri="{FF2B5EF4-FFF2-40B4-BE49-F238E27FC236}">
                <a16:creationId xmlns:a16="http://schemas.microsoft.com/office/drawing/2014/main" id="{AA1F517A-7AE9-4DA7-BB54-EAE6E79DC353}"/>
              </a:ext>
            </a:extLst>
          </p:cNvPr>
          <p:cNvGraphicFramePr>
            <a:graphicFrameLocks noGrp="1"/>
          </p:cNvGraphicFramePr>
          <p:nvPr>
            <p:ph idx="1"/>
            <p:extLst>
              <p:ext uri="{D42A27DB-BD31-4B8C-83A1-F6EECF244321}">
                <p14:modId xmlns:p14="http://schemas.microsoft.com/office/powerpoint/2010/main" val="2048634923"/>
              </p:ext>
            </p:extLst>
          </p:nvPr>
        </p:nvGraphicFramePr>
        <p:xfrm>
          <a:off x="838199" y="1477107"/>
          <a:ext cx="10809850" cy="5015765"/>
        </p:xfrm>
        <a:graphic>
          <a:graphicData uri="http://schemas.openxmlformats.org/drawingml/2006/table">
            <a:tbl>
              <a:tblPr firstRow="1" bandRow="1">
                <a:tableStyleId>{0505E3EF-67EA-436B-97B2-0124C06EBD24}</a:tableStyleId>
              </a:tblPr>
              <a:tblGrid>
                <a:gridCol w="2161970">
                  <a:extLst>
                    <a:ext uri="{9D8B030D-6E8A-4147-A177-3AD203B41FA5}">
                      <a16:colId xmlns:a16="http://schemas.microsoft.com/office/drawing/2014/main" val="3117488371"/>
                    </a:ext>
                  </a:extLst>
                </a:gridCol>
                <a:gridCol w="2161970">
                  <a:extLst>
                    <a:ext uri="{9D8B030D-6E8A-4147-A177-3AD203B41FA5}">
                      <a16:colId xmlns:a16="http://schemas.microsoft.com/office/drawing/2014/main" val="1097874380"/>
                    </a:ext>
                  </a:extLst>
                </a:gridCol>
                <a:gridCol w="2161970">
                  <a:extLst>
                    <a:ext uri="{9D8B030D-6E8A-4147-A177-3AD203B41FA5}">
                      <a16:colId xmlns:a16="http://schemas.microsoft.com/office/drawing/2014/main" val="2997258561"/>
                    </a:ext>
                  </a:extLst>
                </a:gridCol>
                <a:gridCol w="2161970">
                  <a:extLst>
                    <a:ext uri="{9D8B030D-6E8A-4147-A177-3AD203B41FA5}">
                      <a16:colId xmlns:a16="http://schemas.microsoft.com/office/drawing/2014/main" val="291600513"/>
                    </a:ext>
                  </a:extLst>
                </a:gridCol>
                <a:gridCol w="2161970">
                  <a:extLst>
                    <a:ext uri="{9D8B030D-6E8A-4147-A177-3AD203B41FA5}">
                      <a16:colId xmlns:a16="http://schemas.microsoft.com/office/drawing/2014/main" val="1479808480"/>
                    </a:ext>
                  </a:extLst>
                </a:gridCol>
              </a:tblGrid>
              <a:tr h="441146">
                <a:tc>
                  <a:txBody>
                    <a:bodyPr/>
                    <a:lstStyle/>
                    <a:p>
                      <a:r>
                        <a:rPr lang="en-US" dirty="0"/>
                        <a:t>ML Algorithm</a:t>
                      </a:r>
                      <a:endParaRPr lang="en-IN" dirty="0"/>
                    </a:p>
                  </a:txBody>
                  <a:tcPr/>
                </a:tc>
                <a:tc>
                  <a:txBody>
                    <a:bodyPr/>
                    <a:lstStyle/>
                    <a:p>
                      <a:r>
                        <a:rPr lang="en-US" dirty="0"/>
                        <a:t>R2 Score</a:t>
                      </a:r>
                      <a:endParaRPr lang="en-IN" dirty="0"/>
                    </a:p>
                  </a:txBody>
                  <a:tcPr/>
                </a:tc>
                <a:tc>
                  <a:txBody>
                    <a:bodyPr/>
                    <a:lstStyle/>
                    <a:p>
                      <a:r>
                        <a:rPr lang="en-US" dirty="0"/>
                        <a:t>MAE</a:t>
                      </a:r>
                      <a:endParaRPr lang="en-IN" dirty="0"/>
                    </a:p>
                  </a:txBody>
                  <a:tcPr/>
                </a:tc>
                <a:tc>
                  <a:txBody>
                    <a:bodyPr/>
                    <a:lstStyle/>
                    <a:p>
                      <a:r>
                        <a:rPr lang="en-US" dirty="0"/>
                        <a:t>MSE</a:t>
                      </a:r>
                      <a:endParaRPr lang="en-IN" dirty="0"/>
                    </a:p>
                  </a:txBody>
                  <a:tcPr/>
                </a:tc>
                <a:tc>
                  <a:txBody>
                    <a:bodyPr/>
                    <a:lstStyle/>
                    <a:p>
                      <a:r>
                        <a:rPr lang="en-US" dirty="0"/>
                        <a:t>RMSE</a:t>
                      </a:r>
                      <a:endParaRPr lang="en-IN" dirty="0"/>
                    </a:p>
                  </a:txBody>
                  <a:tcPr/>
                </a:tc>
                <a:extLst>
                  <a:ext uri="{0D108BD9-81ED-4DB2-BD59-A6C34878D82A}">
                    <a16:rowId xmlns:a16="http://schemas.microsoft.com/office/drawing/2014/main" val="4063553450"/>
                  </a:ext>
                </a:extLst>
              </a:tr>
              <a:tr h="441146">
                <a:tc>
                  <a:txBody>
                    <a:bodyPr/>
                    <a:lstStyle/>
                    <a:p>
                      <a:r>
                        <a:rPr lang="en-US" dirty="0"/>
                        <a:t>Linear Regression</a:t>
                      </a:r>
                      <a:endParaRPr lang="en-IN" dirty="0"/>
                    </a:p>
                  </a:txBody>
                  <a:tcPr/>
                </a:tc>
                <a:tc>
                  <a:txBody>
                    <a:bodyPr/>
                    <a:lstStyle/>
                    <a:p>
                      <a:r>
                        <a:rPr lang="en-US" dirty="0"/>
                        <a:t>0.3286</a:t>
                      </a:r>
                      <a:endParaRPr lang="en-IN" dirty="0"/>
                    </a:p>
                  </a:txBody>
                  <a:tcPr/>
                </a:tc>
                <a:tc>
                  <a:txBody>
                    <a:bodyPr/>
                    <a:lstStyle/>
                    <a:p>
                      <a:r>
                        <a:rPr lang="en-US" dirty="0"/>
                        <a:t>20.0369</a:t>
                      </a:r>
                      <a:endParaRPr lang="en-IN" dirty="0"/>
                    </a:p>
                  </a:txBody>
                  <a:tcPr/>
                </a:tc>
                <a:tc>
                  <a:txBody>
                    <a:bodyPr/>
                    <a:lstStyle/>
                    <a:p>
                      <a:r>
                        <a:rPr lang="en-US" dirty="0"/>
                        <a:t>605.4526</a:t>
                      </a:r>
                      <a:endParaRPr lang="en-IN" dirty="0"/>
                    </a:p>
                  </a:txBody>
                  <a:tcPr/>
                </a:tc>
                <a:tc>
                  <a:txBody>
                    <a:bodyPr/>
                    <a:lstStyle/>
                    <a:p>
                      <a:r>
                        <a:rPr lang="en-US" dirty="0"/>
                        <a:t>4.4762</a:t>
                      </a:r>
                      <a:endParaRPr lang="en-IN" dirty="0"/>
                    </a:p>
                  </a:txBody>
                  <a:tcPr/>
                </a:tc>
                <a:extLst>
                  <a:ext uri="{0D108BD9-81ED-4DB2-BD59-A6C34878D82A}">
                    <a16:rowId xmlns:a16="http://schemas.microsoft.com/office/drawing/2014/main" val="3894635887"/>
                  </a:ext>
                </a:extLst>
              </a:tr>
              <a:tr h="761429">
                <a:tc>
                  <a:txBody>
                    <a:bodyPr/>
                    <a:lstStyle/>
                    <a:p>
                      <a:r>
                        <a:rPr lang="en-US" dirty="0"/>
                        <a:t>Decision Tree Regressor</a:t>
                      </a:r>
                      <a:endParaRPr lang="en-IN" dirty="0"/>
                    </a:p>
                  </a:txBody>
                  <a:tcPr/>
                </a:tc>
                <a:tc>
                  <a:txBody>
                    <a:bodyPr/>
                    <a:lstStyle/>
                    <a:p>
                      <a:r>
                        <a:rPr lang="en-US" dirty="0"/>
                        <a:t>0.9773</a:t>
                      </a:r>
                      <a:endParaRPr lang="en-IN" dirty="0"/>
                    </a:p>
                  </a:txBody>
                  <a:tcPr/>
                </a:tc>
                <a:tc>
                  <a:txBody>
                    <a:bodyPr/>
                    <a:lstStyle/>
                    <a:p>
                      <a:r>
                        <a:rPr lang="en-US" dirty="0"/>
                        <a:t>0.3015</a:t>
                      </a:r>
                      <a:endParaRPr lang="en-IN" dirty="0"/>
                    </a:p>
                  </a:txBody>
                  <a:tcPr/>
                </a:tc>
                <a:tc>
                  <a:txBody>
                    <a:bodyPr/>
                    <a:lstStyle/>
                    <a:p>
                      <a:r>
                        <a:rPr lang="en-US" dirty="0"/>
                        <a:t>20.4103</a:t>
                      </a:r>
                      <a:endParaRPr lang="en-IN" dirty="0"/>
                    </a:p>
                  </a:txBody>
                  <a:tcPr/>
                </a:tc>
                <a:tc>
                  <a:txBody>
                    <a:bodyPr/>
                    <a:lstStyle/>
                    <a:p>
                      <a:r>
                        <a:rPr lang="en-US" dirty="0"/>
                        <a:t>0.5491</a:t>
                      </a:r>
                      <a:endParaRPr lang="en-IN" dirty="0"/>
                    </a:p>
                  </a:txBody>
                  <a:tcPr/>
                </a:tc>
                <a:extLst>
                  <a:ext uri="{0D108BD9-81ED-4DB2-BD59-A6C34878D82A}">
                    <a16:rowId xmlns:a16="http://schemas.microsoft.com/office/drawing/2014/main" val="1653243188"/>
                  </a:ext>
                </a:extLst>
              </a:tr>
              <a:tr h="761429">
                <a:tc>
                  <a:txBody>
                    <a:bodyPr/>
                    <a:lstStyle/>
                    <a:p>
                      <a:r>
                        <a:rPr lang="en-US" dirty="0"/>
                        <a:t>Random Forest Regressor</a:t>
                      </a:r>
                      <a:endParaRPr lang="en-IN" dirty="0"/>
                    </a:p>
                  </a:txBody>
                  <a:tcPr/>
                </a:tc>
                <a:tc>
                  <a:txBody>
                    <a:bodyPr/>
                    <a:lstStyle/>
                    <a:p>
                      <a:r>
                        <a:rPr lang="en-US" dirty="0"/>
                        <a:t>0.9869</a:t>
                      </a:r>
                      <a:endParaRPr lang="en-IN" dirty="0"/>
                    </a:p>
                  </a:txBody>
                  <a:tcPr/>
                </a:tc>
                <a:tc>
                  <a:txBody>
                    <a:bodyPr/>
                    <a:lstStyle/>
                    <a:p>
                      <a:r>
                        <a:rPr lang="en-US" dirty="0"/>
                        <a:t>0.3224</a:t>
                      </a:r>
                      <a:endParaRPr lang="en-IN" dirty="0"/>
                    </a:p>
                  </a:txBody>
                  <a:tcPr/>
                </a:tc>
                <a:tc>
                  <a:txBody>
                    <a:bodyPr/>
                    <a:lstStyle/>
                    <a:p>
                      <a:r>
                        <a:rPr lang="en-US" dirty="0"/>
                        <a:t>11.7422</a:t>
                      </a:r>
                      <a:endParaRPr lang="en-IN" dirty="0"/>
                    </a:p>
                  </a:txBody>
                  <a:tcPr/>
                </a:tc>
                <a:tc>
                  <a:txBody>
                    <a:bodyPr/>
                    <a:lstStyle/>
                    <a:p>
                      <a:r>
                        <a:rPr lang="en-US" dirty="0"/>
                        <a:t>0.5678</a:t>
                      </a:r>
                      <a:endParaRPr lang="en-IN" dirty="0"/>
                    </a:p>
                  </a:txBody>
                  <a:tcPr/>
                </a:tc>
                <a:extLst>
                  <a:ext uri="{0D108BD9-81ED-4DB2-BD59-A6C34878D82A}">
                    <a16:rowId xmlns:a16="http://schemas.microsoft.com/office/drawing/2014/main" val="4097806262"/>
                  </a:ext>
                </a:extLst>
              </a:tr>
              <a:tr h="761429">
                <a:tc>
                  <a:txBody>
                    <a:bodyPr/>
                    <a:lstStyle/>
                    <a:p>
                      <a:r>
                        <a:rPr lang="en-US" dirty="0"/>
                        <a:t>Support Vector Machine</a:t>
                      </a:r>
                      <a:endParaRPr lang="en-IN" dirty="0"/>
                    </a:p>
                  </a:txBody>
                  <a:tcPr/>
                </a:tc>
                <a:tc>
                  <a:txBody>
                    <a:bodyPr/>
                    <a:lstStyle/>
                    <a:p>
                      <a:r>
                        <a:rPr lang="en-US" dirty="0"/>
                        <a:t>0.0489</a:t>
                      </a:r>
                      <a:endParaRPr lang="en-IN" dirty="0"/>
                    </a:p>
                  </a:txBody>
                  <a:tcPr/>
                </a:tc>
                <a:tc>
                  <a:txBody>
                    <a:bodyPr/>
                    <a:lstStyle/>
                    <a:p>
                      <a:r>
                        <a:rPr lang="en-US" dirty="0"/>
                        <a:t>24.9563</a:t>
                      </a:r>
                      <a:endParaRPr lang="en-IN" dirty="0"/>
                    </a:p>
                  </a:txBody>
                  <a:tcPr/>
                </a:tc>
                <a:tc>
                  <a:txBody>
                    <a:bodyPr/>
                    <a:lstStyle/>
                    <a:p>
                      <a:r>
                        <a:rPr lang="en-US" dirty="0"/>
                        <a:t>857.6918</a:t>
                      </a:r>
                      <a:endParaRPr lang="en-IN" dirty="0"/>
                    </a:p>
                  </a:txBody>
                  <a:tcPr/>
                </a:tc>
                <a:tc>
                  <a:txBody>
                    <a:bodyPr/>
                    <a:lstStyle/>
                    <a:p>
                      <a:r>
                        <a:rPr lang="en-US" dirty="0"/>
                        <a:t>4.9956</a:t>
                      </a:r>
                      <a:endParaRPr lang="en-IN" dirty="0"/>
                    </a:p>
                  </a:txBody>
                  <a:tcPr/>
                </a:tc>
                <a:extLst>
                  <a:ext uri="{0D108BD9-81ED-4DB2-BD59-A6C34878D82A}">
                    <a16:rowId xmlns:a16="http://schemas.microsoft.com/office/drawing/2014/main" val="2983219285"/>
                  </a:ext>
                </a:extLst>
              </a:tr>
              <a:tr h="761429">
                <a:tc>
                  <a:txBody>
                    <a:bodyPr/>
                    <a:lstStyle/>
                    <a:p>
                      <a:r>
                        <a:rPr lang="en-US" dirty="0"/>
                        <a:t>Gradient Boosting Regressor</a:t>
                      </a:r>
                      <a:endParaRPr lang="en-IN" dirty="0"/>
                    </a:p>
                  </a:txBody>
                  <a:tcPr/>
                </a:tc>
                <a:tc>
                  <a:txBody>
                    <a:bodyPr/>
                    <a:lstStyle/>
                    <a:p>
                      <a:r>
                        <a:rPr lang="en-US" dirty="0"/>
                        <a:t>0.5066</a:t>
                      </a:r>
                      <a:endParaRPr lang="en-IN" dirty="0"/>
                    </a:p>
                  </a:txBody>
                  <a:tcPr/>
                </a:tc>
                <a:tc>
                  <a:txBody>
                    <a:bodyPr/>
                    <a:lstStyle/>
                    <a:p>
                      <a:r>
                        <a:rPr lang="en-US" dirty="0"/>
                        <a:t>17.6681</a:t>
                      </a:r>
                      <a:endParaRPr lang="en-IN" dirty="0"/>
                    </a:p>
                  </a:txBody>
                  <a:tcPr/>
                </a:tc>
                <a:tc>
                  <a:txBody>
                    <a:bodyPr/>
                    <a:lstStyle/>
                    <a:p>
                      <a:r>
                        <a:rPr lang="en-US" dirty="0"/>
                        <a:t>444.8648</a:t>
                      </a:r>
                      <a:endParaRPr lang="en-IN" dirty="0"/>
                    </a:p>
                  </a:txBody>
                  <a:tcPr/>
                </a:tc>
                <a:tc>
                  <a:txBody>
                    <a:bodyPr/>
                    <a:lstStyle/>
                    <a:p>
                      <a:r>
                        <a:rPr lang="en-US" dirty="0"/>
                        <a:t>4.2033</a:t>
                      </a:r>
                      <a:endParaRPr lang="en-IN" dirty="0"/>
                    </a:p>
                  </a:txBody>
                  <a:tcPr/>
                </a:tc>
                <a:extLst>
                  <a:ext uri="{0D108BD9-81ED-4DB2-BD59-A6C34878D82A}">
                    <a16:rowId xmlns:a16="http://schemas.microsoft.com/office/drawing/2014/main" val="3795594862"/>
                  </a:ext>
                </a:extLst>
              </a:tr>
              <a:tr h="1087757">
                <a:tc>
                  <a:txBody>
                    <a:bodyPr/>
                    <a:lstStyle/>
                    <a:p>
                      <a:r>
                        <a:rPr lang="en-US" dirty="0"/>
                        <a:t>Multi Linear Regression using ANN</a:t>
                      </a:r>
                      <a:endParaRPr lang="en-IN" dirty="0"/>
                    </a:p>
                  </a:txBody>
                  <a:tcPr/>
                </a:tc>
                <a:tc>
                  <a:txBody>
                    <a:bodyPr/>
                    <a:lstStyle/>
                    <a:p>
                      <a:r>
                        <a:rPr lang="en-US" dirty="0"/>
                        <a:t>0.9862</a:t>
                      </a:r>
                      <a:endParaRPr lang="en-IN" dirty="0"/>
                    </a:p>
                  </a:txBody>
                  <a:tcPr/>
                </a:tc>
                <a:tc>
                  <a:txBody>
                    <a:bodyPr/>
                    <a:lstStyle/>
                    <a:p>
                      <a:r>
                        <a:rPr lang="en-US" dirty="0"/>
                        <a:t>0.8848</a:t>
                      </a:r>
                      <a:endParaRPr lang="en-IN" dirty="0"/>
                    </a:p>
                  </a:txBody>
                  <a:tcPr/>
                </a:tc>
                <a:tc>
                  <a:txBody>
                    <a:bodyPr/>
                    <a:lstStyle/>
                    <a:p>
                      <a:r>
                        <a:rPr lang="en-US" dirty="0"/>
                        <a:t>12.5542</a:t>
                      </a:r>
                      <a:endParaRPr lang="en-IN" dirty="0"/>
                    </a:p>
                  </a:txBody>
                  <a:tcPr/>
                </a:tc>
                <a:tc>
                  <a:txBody>
                    <a:bodyPr/>
                    <a:lstStyle/>
                    <a:p>
                      <a:r>
                        <a:rPr lang="en-US" dirty="0"/>
                        <a:t>0.9406</a:t>
                      </a:r>
                      <a:endParaRPr lang="en-IN" dirty="0"/>
                    </a:p>
                  </a:txBody>
                  <a:tcPr/>
                </a:tc>
                <a:extLst>
                  <a:ext uri="{0D108BD9-81ED-4DB2-BD59-A6C34878D82A}">
                    <a16:rowId xmlns:a16="http://schemas.microsoft.com/office/drawing/2014/main" val="2011563994"/>
                  </a:ext>
                </a:extLst>
              </a:tr>
            </a:tbl>
          </a:graphicData>
        </a:graphic>
      </p:graphicFrame>
    </p:spTree>
    <p:extLst>
      <p:ext uri="{BB962C8B-B14F-4D97-AF65-F5344CB8AC3E}">
        <p14:creationId xmlns:p14="http://schemas.microsoft.com/office/powerpoint/2010/main" val="797778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146B6-1BA4-414B-8F81-60456D11D0F8}"/>
              </a:ext>
            </a:extLst>
          </p:cNvPr>
          <p:cNvSpPr>
            <a:spLocks noGrp="1"/>
          </p:cNvSpPr>
          <p:nvPr>
            <p:ph type="title"/>
          </p:nvPr>
        </p:nvSpPr>
        <p:spPr>
          <a:xfrm>
            <a:off x="913795" y="274320"/>
            <a:ext cx="10353761" cy="949569"/>
          </a:xfrm>
        </p:spPr>
        <p:txBody>
          <a:bodyPr/>
          <a:lstStyle/>
          <a:p>
            <a:r>
              <a:rPr lang="en-US" dirty="0"/>
              <a:t>Conclusion :</a:t>
            </a:r>
            <a:endParaRPr lang="en-IN" dirty="0"/>
          </a:p>
        </p:txBody>
      </p:sp>
      <p:sp>
        <p:nvSpPr>
          <p:cNvPr id="3" name="Content Placeholder 2">
            <a:extLst>
              <a:ext uri="{FF2B5EF4-FFF2-40B4-BE49-F238E27FC236}">
                <a16:creationId xmlns:a16="http://schemas.microsoft.com/office/drawing/2014/main" id="{38F8F99D-4EE3-459D-81E2-0B45DB8D694A}"/>
              </a:ext>
            </a:extLst>
          </p:cNvPr>
          <p:cNvSpPr>
            <a:spLocks noGrp="1"/>
          </p:cNvSpPr>
          <p:nvPr>
            <p:ph idx="1"/>
          </p:nvPr>
        </p:nvSpPr>
        <p:spPr>
          <a:xfrm>
            <a:off x="913795" y="1083213"/>
            <a:ext cx="10353762" cy="5500468"/>
          </a:xfrm>
        </p:spPr>
        <p:txBody>
          <a:bodyPr>
            <a:normAutofit/>
          </a:bodyPr>
          <a:lstStyle/>
          <a:p>
            <a:r>
              <a:rPr lang="en-US" dirty="0"/>
              <a:t>Various Machine Learning techniques can be implemented for predicting customer acquisition cost (CAC). It includes </a:t>
            </a:r>
            <a:r>
              <a:rPr lang="en-US" dirty="0" err="1"/>
              <a:t>tradional,modern</a:t>
            </a:r>
            <a:r>
              <a:rPr lang="en-US" dirty="0"/>
              <a:t> and quantitative methods.</a:t>
            </a:r>
          </a:p>
          <a:p>
            <a:r>
              <a:rPr lang="en-US" dirty="0"/>
              <a:t>We implemented linear regression as traditional method, for which we obtained very less R2 Score. So we decided to implement some advance machine learning algorithms such as Decision Tree </a:t>
            </a:r>
            <a:r>
              <a:rPr lang="en-US" dirty="0" err="1"/>
              <a:t>regressor,Random</a:t>
            </a:r>
            <a:r>
              <a:rPr lang="en-US" dirty="0"/>
              <a:t> Forest,,</a:t>
            </a:r>
            <a:r>
              <a:rPr lang="en-US" dirty="0" err="1"/>
              <a:t>SVM,Gradient</a:t>
            </a:r>
            <a:r>
              <a:rPr lang="en-US" dirty="0"/>
              <a:t> Boosting regressor.</a:t>
            </a:r>
            <a:endParaRPr lang="en-IN" dirty="0"/>
          </a:p>
          <a:p>
            <a:r>
              <a:rPr lang="en-US" dirty="0"/>
              <a:t>D</a:t>
            </a:r>
            <a:r>
              <a:rPr lang="en-IN" dirty="0" err="1"/>
              <a:t>ecision</a:t>
            </a:r>
            <a:r>
              <a:rPr lang="en-IN" dirty="0"/>
              <a:t> Tree and Random Forest resulted into good R2 Score which is almost 0.98, so we can consider them as best algorithms for CAC prediction analysis.</a:t>
            </a:r>
          </a:p>
          <a:p>
            <a:r>
              <a:rPr lang="en-US" dirty="0"/>
              <a:t>We can also consider quantitative methods such as ANN for prediction, but hyperparameter tuning can be a challenging part for obtaining good results.</a:t>
            </a:r>
          </a:p>
          <a:p>
            <a:r>
              <a:rPr lang="en-US" dirty="0"/>
              <a:t>In this way we conclude that Machine Learning can be implemented for prediction as well as classification of different real world use cases which helps to analyze data and influence decision accordingly.</a:t>
            </a:r>
          </a:p>
          <a:p>
            <a:endParaRPr lang="en-US" dirty="0"/>
          </a:p>
        </p:txBody>
      </p:sp>
    </p:spTree>
    <p:extLst>
      <p:ext uri="{BB962C8B-B14F-4D97-AF65-F5344CB8AC3E}">
        <p14:creationId xmlns:p14="http://schemas.microsoft.com/office/powerpoint/2010/main" val="382309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B43E-705C-49B8-9268-14FF65D30E51}"/>
              </a:ext>
            </a:extLst>
          </p:cNvPr>
          <p:cNvSpPr>
            <a:spLocks noGrp="1"/>
          </p:cNvSpPr>
          <p:nvPr>
            <p:ph type="title"/>
          </p:nvPr>
        </p:nvSpPr>
        <p:spPr/>
        <p:txBody>
          <a:bodyPr/>
          <a:lstStyle/>
          <a:p>
            <a:r>
              <a:rPr lang="en-US" dirty="0"/>
              <a:t>References :</a:t>
            </a:r>
            <a:endParaRPr lang="en-IN" dirty="0"/>
          </a:p>
        </p:txBody>
      </p:sp>
      <p:sp>
        <p:nvSpPr>
          <p:cNvPr id="3" name="Content Placeholder 2">
            <a:extLst>
              <a:ext uri="{FF2B5EF4-FFF2-40B4-BE49-F238E27FC236}">
                <a16:creationId xmlns:a16="http://schemas.microsoft.com/office/drawing/2014/main" id="{7FB4FEFC-CACC-4417-8E8C-6967F3A2CEF1}"/>
              </a:ext>
            </a:extLst>
          </p:cNvPr>
          <p:cNvSpPr>
            <a:spLocks noGrp="1"/>
          </p:cNvSpPr>
          <p:nvPr>
            <p:ph idx="1"/>
          </p:nvPr>
        </p:nvSpPr>
        <p:spPr>
          <a:xfrm>
            <a:off x="913795" y="1935921"/>
            <a:ext cx="10353762" cy="4183525"/>
          </a:xfrm>
        </p:spPr>
        <p:txBody>
          <a:bodyPr>
            <a:normAutofit fontScale="92500" lnSpcReduction="10000"/>
          </a:bodyPr>
          <a:lstStyle/>
          <a:p>
            <a:r>
              <a:rPr lang="en-US" dirty="0"/>
              <a:t>[1] McVey, H. On-line Financial Services, presentation by Morgan Stanley Dean Witter, August 2000. </a:t>
            </a:r>
          </a:p>
          <a:p>
            <a:r>
              <a:rPr lang="en-US" dirty="0"/>
              <a:t>[2] Chen, Pei-Yu, and </a:t>
            </a:r>
            <a:r>
              <a:rPr lang="en-US" dirty="0" err="1"/>
              <a:t>Lorin</a:t>
            </a:r>
            <a:r>
              <a:rPr lang="en-US" dirty="0"/>
              <a:t> Hitt. "Switching cost and brand loyalty in electronic markets: Evidence from on-line retail brokers." ICIS 2000 Proceedings (2000): 13. </a:t>
            </a:r>
          </a:p>
          <a:p>
            <a:r>
              <a:rPr lang="en-US" dirty="0"/>
              <a:t>[3] Klemperer, Paul. "Price wars caused by switching costs." The Review of Economic Studies 56.3 (1989): 405-420.</a:t>
            </a:r>
          </a:p>
          <a:p>
            <a:r>
              <a:rPr lang="en-US" dirty="0"/>
              <a:t> [4] </a:t>
            </a:r>
            <a:r>
              <a:rPr lang="en-US" dirty="0" err="1"/>
              <a:t>Reinartz</a:t>
            </a:r>
            <a:r>
              <a:rPr lang="en-US" dirty="0"/>
              <a:t>, Werner J., and Vita Kumar. "The impact of customer relationship characteristics on profitable lifetime duration." Journal of marketing 67.1 (2003): 77-99. </a:t>
            </a:r>
          </a:p>
          <a:p>
            <a:r>
              <a:rPr lang="en-US" dirty="0"/>
              <a:t>[5] </a:t>
            </a:r>
            <a:r>
              <a:rPr lang="en-US" dirty="0" err="1"/>
              <a:t>Thorleuchter</a:t>
            </a:r>
            <a:r>
              <a:rPr lang="en-US" dirty="0"/>
              <a:t>, Dirk, Dirk Van den Poel, and Anita </a:t>
            </a:r>
            <a:r>
              <a:rPr lang="en-US" dirty="0" err="1"/>
              <a:t>Prinzie</a:t>
            </a:r>
            <a:r>
              <a:rPr lang="en-US" dirty="0"/>
              <a:t>. "Analyzing existing customers’ websites to improve the customer acquisition process as well as the profitability prediction in B-to-B marketing." Expert systems with applications 39.3 (2012): 2597-2605</a:t>
            </a:r>
            <a:endParaRPr lang="en-IN" dirty="0"/>
          </a:p>
        </p:txBody>
      </p:sp>
    </p:spTree>
    <p:extLst>
      <p:ext uri="{BB962C8B-B14F-4D97-AF65-F5344CB8AC3E}">
        <p14:creationId xmlns:p14="http://schemas.microsoft.com/office/powerpoint/2010/main" val="580046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26210-1D45-4BA6-B63D-82B5784CE3D8}"/>
              </a:ext>
            </a:extLst>
          </p:cNvPr>
          <p:cNvSpPr>
            <a:spLocks noGrp="1"/>
          </p:cNvSpPr>
          <p:nvPr>
            <p:ph type="title"/>
          </p:nvPr>
        </p:nvSpPr>
        <p:spPr>
          <a:xfrm>
            <a:off x="3727938" y="1772529"/>
            <a:ext cx="7625862" cy="3460653"/>
          </a:xfrm>
        </p:spPr>
        <p:txBody>
          <a:bodyPr>
            <a:normAutofit/>
          </a:bodyPr>
          <a:lstStyle/>
          <a:p>
            <a:r>
              <a:rPr lang="en-US" sz="6600" dirty="0"/>
              <a:t>Thank You</a:t>
            </a:r>
            <a:endParaRPr lang="en-IN" sz="6600" dirty="0"/>
          </a:p>
        </p:txBody>
      </p:sp>
    </p:spTree>
    <p:extLst>
      <p:ext uri="{BB962C8B-B14F-4D97-AF65-F5344CB8AC3E}">
        <p14:creationId xmlns:p14="http://schemas.microsoft.com/office/powerpoint/2010/main" val="31391980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1_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160</TotalTime>
  <Words>1048</Words>
  <Application>Microsoft Office PowerPoint</Application>
  <PresentationFormat>Widescreen</PresentationFormat>
  <Paragraphs>94</Paragraphs>
  <Slides>18</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18</vt:i4>
      </vt:variant>
    </vt:vector>
  </HeadingPairs>
  <TitlesOfParts>
    <vt:vector size="26" baseType="lpstr">
      <vt:lpstr>Arial</vt:lpstr>
      <vt:lpstr>Bookman Old Style</vt:lpstr>
      <vt:lpstr>Calibri</vt:lpstr>
      <vt:lpstr>Calibri Light</vt:lpstr>
      <vt:lpstr>Rockwell</vt:lpstr>
      <vt:lpstr>Damask</vt:lpstr>
      <vt:lpstr>1_Damask</vt:lpstr>
      <vt:lpstr>Office Theme</vt:lpstr>
      <vt:lpstr>Case Study - 4</vt:lpstr>
      <vt:lpstr>List of participants:</vt:lpstr>
      <vt:lpstr>Have you ever visited any Food Mart ?</vt:lpstr>
      <vt:lpstr>What these trends indicate ?</vt:lpstr>
      <vt:lpstr>Problem Statement : </vt:lpstr>
      <vt:lpstr>Literature Review :</vt:lpstr>
      <vt:lpstr>Literature Review :</vt:lpstr>
      <vt:lpstr>Exploratory Data Analysis :</vt:lpstr>
      <vt:lpstr>PowerPoint Presentation</vt:lpstr>
      <vt:lpstr>PowerPoint Presentation</vt:lpstr>
      <vt:lpstr>PowerPoint Presentation</vt:lpstr>
      <vt:lpstr>Tentative List Of Algorithms:</vt:lpstr>
      <vt:lpstr>Steps involved :</vt:lpstr>
      <vt:lpstr>Performance Evaluation :</vt:lpstr>
      <vt:lpstr>Results :</vt:lpstr>
      <vt:lpstr>Conclusion :</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- 4</dc:title>
  <dc:creator>admin</dc:creator>
  <cp:lastModifiedBy>admin</cp:lastModifiedBy>
  <cp:revision>22</cp:revision>
  <dcterms:created xsi:type="dcterms:W3CDTF">2023-10-13T07:44:36Z</dcterms:created>
  <dcterms:modified xsi:type="dcterms:W3CDTF">2023-10-15T05:20:37Z</dcterms:modified>
</cp:coreProperties>
</file>